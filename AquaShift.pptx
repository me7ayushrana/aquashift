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074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ZINNOVATIO 4.0  ·  GEN Z INNOVATIONS HACKATHON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Track: AgriTech &amp; Rural Transformation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AquaShift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Water-constrained crop planning and diversification simulator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Simulate crop choices under the competing limits of water, food production and farmer income.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38024"/>
            <a:ext cx="4754880" cy="1485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Team: </a:t>
            </a:r>
            <a:r>
              <a:rPr lang="en-US" sz="1000" b="1" dirty="0" err="1"/>
              <a:t>NullPointers</a:t>
            </a:r>
            <a:endParaRPr lang="en-US" sz="1000" b="1" dirty="0"/>
          </a:p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Team Members:</a:t>
            </a:r>
          </a:p>
          <a:p>
            <a:pPr marL="0" indent="0">
              <a:buNone/>
            </a:pPr>
            <a:endParaRPr lang="en-US" sz="1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</a:rPr>
              <a:t>JAIDEEP SINGH</a:t>
            </a:r>
          </a:p>
          <a:p>
            <a:pPr marL="0" indent="0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</a:rPr>
              <a:t>GURNOOR KAUR</a:t>
            </a:r>
          </a:p>
          <a:p>
            <a:pPr marL="0" indent="0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</a:rPr>
              <a:t>SHEKHAR SHARMA</a:t>
            </a:r>
          </a:p>
          <a:p>
            <a:pPr marL="0" indent="0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</a:rPr>
              <a:t>YASHIKA CHANDEL</a:t>
            </a:r>
          </a:p>
          <a:p>
            <a:pPr marL="0" indent="0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</a:rPr>
              <a:t>AYUSH RANA</a:t>
            </a:r>
          </a:p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 </a:t>
            </a:r>
          </a:p>
          <a:p>
            <a:pPr marL="0" indent="0">
              <a:buNone/>
            </a:pPr>
            <a:endParaRPr lang="en-US" sz="1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Photo slot"/>
          <p:cNvSpPr/>
          <p:nvPr/>
        </p:nvSpPr>
        <p:spPr>
          <a:xfrm>
            <a:off x="5212080" y="0"/>
            <a:ext cx="3931920" cy="5143500"/>
          </a:xfrm>
          <a:prstGeom prst="roundRect">
            <a:avLst>
              <a:gd name="adj" fmla="val 1860"/>
            </a:avLst>
          </a:prstGeom>
          <a:solidFill>
            <a:schemeClr val="accent5">
              <a:alpha val="45000"/>
            </a:schemeClr>
          </a:solidFill>
          <a:ln w="127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394960" y="0"/>
            <a:ext cx="356616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6"/>
                </a:solidFill>
              </a:rPr>
              <a:t>PHOTO SLOT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chemeClr val="accent6"/>
                </a:solidFill>
              </a:rPr>
              <a:t>Wide shot: irrigated paddy or wheat field at dawn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28E61B-B977-12C9-0633-CC5CE53CB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Agriculture has competing constraints, not one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2062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1344168"/>
            <a:ext cx="54864" cy="67665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184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Falling groundwater and limited irrigation. Water-hungry crops like paddy strain the same aquifers they depend 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42062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2368296"/>
            <a:ext cx="54864" cy="67665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77240" y="2350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426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Food-production requirements must still be met while the crop mix changes.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42062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54864" cy="67665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3374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Farmer income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6667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Farmers cannot switch crops without economic consequences. Any plan must protect livelihoods.</a:t>
            </a:r>
            <a:endParaRPr lang="en-US" sz="1100" dirty="0"/>
          </a:p>
        </p:txBody>
      </p:sp>
      <p:sp>
        <p:nvSpPr>
          <p:cNvPr id="15" name="Photo slot"/>
          <p:cNvSpPr/>
          <p:nvPr/>
        </p:nvSpPr>
        <p:spPr>
          <a:xfrm>
            <a:off x="5029200" y="12344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accent5">
              <a:alpha val="45000"/>
            </a:schemeClr>
          </a:solidFill>
          <a:ln w="127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212080" y="123444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6"/>
                </a:solidFill>
              </a:rPr>
              <a:t>PHOTO SLOT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chemeClr val="accent6"/>
                </a:solidFill>
              </a:rPr>
              <a:t>Dry or cracked field beside irrigation canal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3337560"/>
            <a:ext cx="356616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21208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THE MISSING QUESTION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6758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</a:rPr>
              <a:t>“Given limited water, what should we grow instead, and what will it cost in food and farmer income?”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Today: data → existing tools (advisories, satellite, market) → information. Missing: a decision layer that works under constraints.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36E1942-1961-F475-57EC-90217CFEC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997" y="1214571"/>
            <a:ext cx="3650566" cy="19858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AquaShift works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USER INPUTS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Land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141732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92024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Water budget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29184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Crop choices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66344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Food target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03504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Income target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06640" y="141732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40664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Rainfall scenario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CORE PIPELINE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377440"/>
            <a:ext cx="1280160" cy="1143000"/>
          </a:xfrm>
          <a:prstGeom prst="roundRect">
            <a:avLst>
              <a:gd name="adj" fmla="val 64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58368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Scenario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Land, water, targets, climate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20240" y="2377440"/>
            <a:ext cx="1280160" cy="114300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2029968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029968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ML predictor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029968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Yield and water-use effects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2377440"/>
            <a:ext cx="128016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3401568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01568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Optimizer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401568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Crop allocation with OR-Tools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377440"/>
            <a:ext cx="1280160" cy="1143000"/>
          </a:xfrm>
          <a:prstGeom prst="roundRect">
            <a:avLst>
              <a:gd name="adj" fmla="val 64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4773168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773168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Stress test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773168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Finds bottlenecks when targets conflict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35040" y="2377440"/>
            <a:ext cx="1280160" cy="1143000"/>
          </a:xfrm>
          <a:prstGeom prst="roundRect">
            <a:avLst>
              <a:gd name="adj" fmla="val 64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144768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144768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AI insight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144768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LLM explains in plain language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06640" y="2377440"/>
            <a:ext cx="128016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7516368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7516368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Crop plan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516368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Water, food, income impact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predicts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scenario effects on yield and water demand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329184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decides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3291840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the allocation under hard and soft constraints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03504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explains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035040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the result. The LLM is never the optimizer.</a:t>
            </a:r>
            <a:endParaRPr lang="en-US" sz="11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stress test: never “infeasible”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EXTREME SCENARIO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46888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13232" y="14630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Water availability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46304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−80%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46888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13232" y="21945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Income target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19456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+50%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246888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13232" y="29260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Food target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92608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+10%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STANDARD SOLVER VS AQUASHIFT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1463040"/>
            <a:ext cx="237744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338328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Solver says: INFEASIBLE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2103120"/>
            <a:ext cx="23774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5204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stress event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25146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AquaShift names the bottleneck and returns the closest feasible plan using soft constraints and slack variables.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BOTTLENECK DIAGNOSIS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Water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1463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Critical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709928"/>
            <a:ext cx="246888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126480" y="1709928"/>
            <a:ext cx="2468880" cy="12801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126480" y="2011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Income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011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High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258568"/>
            <a:ext cx="246888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26480" y="2258568"/>
            <a:ext cx="1728216" cy="12801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126480" y="2560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Food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2560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Moderate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807208"/>
            <a:ext cx="246888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126480" y="2807208"/>
            <a:ext cx="1110996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612648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CLOSEST FEASIBLE ALLOCATION (ILLUSTRATIVE)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3429000"/>
            <a:ext cx="246888" cy="2743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373368" y="3429000"/>
            <a:ext cx="740664" cy="274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114032" y="3429000"/>
            <a:ext cx="6172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731252" y="3429000"/>
            <a:ext cx="493776" cy="274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225028" y="3429000"/>
            <a:ext cx="370332" cy="2743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6126480" y="3749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Paddy · Wheat · Maize · Pulses · Millets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OR-Tools optimization  ·  Soft constraints  ·  Slack variables  ·  Scenario modelling  ·  ML parameter estimation  ·  LLM explanation</a:t>
            </a:r>
            <a:endParaRPr lang="en-US" sz="10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it serves, and how we build 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TARGET USERS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280160" cy="14173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District planners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</a:rPr>
              <a:t>Diversification and water-policy scenarios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20240" y="1463040"/>
            <a:ext cx="1280160" cy="14173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01168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FPOs / cooperatives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9659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</a:rPr>
              <a:t>Collective seasonal crop planning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1280160" cy="14173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38328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Agribusinesses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9659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</a:rPr>
              <a:t>Supply planning under climate and water limits</a:t>
            </a:r>
            <a:endParaRPr lang="en-US" sz="950" dirty="0"/>
          </a:p>
        </p:txBody>
      </p:sp>
      <p:sp>
        <p:nvSpPr>
          <p:cNvPr id="13" name="Photo slot"/>
          <p:cNvSpPr/>
          <p:nvPr/>
        </p:nvSpPr>
        <p:spPr>
          <a:xfrm>
            <a:off x="4754880" y="1188720"/>
            <a:ext cx="3840480" cy="1691640"/>
          </a:xfrm>
          <a:prstGeom prst="roundRect">
            <a:avLst>
              <a:gd name="adj" fmla="val 4324"/>
            </a:avLst>
          </a:prstGeom>
          <a:solidFill>
            <a:schemeClr val="accent5">
              <a:alpha val="45000"/>
            </a:schemeClr>
          </a:solidFill>
          <a:ln w="127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937760" y="118872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6"/>
                </a:solidFill>
              </a:rPr>
              <a:t>PHOTO SLOT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Farmers or FPO members planning together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36-HOUR MVP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554480" cy="384048"/>
          </a:xfrm>
          <a:prstGeom prst="homePlat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3337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57984" y="3337560"/>
            <a:ext cx="1554480" cy="384048"/>
          </a:xfrm>
          <a:prstGeom prst="homePlat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2157984" y="3337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ML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67328" y="3337560"/>
            <a:ext cx="1554480" cy="384048"/>
          </a:xfrm>
          <a:prstGeom prst="homePlat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3767328" y="3337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Optimization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76672" y="3337560"/>
            <a:ext cx="1554480" cy="384048"/>
          </a:xfrm>
          <a:prstGeom prst="homePlate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5376672" y="3337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UI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86016" y="3337560"/>
            <a:ext cx="1554480" cy="384048"/>
          </a:xfrm>
          <a:prstGeom prst="homePlat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986016" y="3337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AI explanation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7947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accent6"/>
                </a:solidFill>
              </a:rPr>
              <a:t>Data: public agricultural statistics, historical weather, crop and agronomic data, synthetic demo data where needed.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23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2-minute demo: baseline plan → water −20% → optimize → new allocation and impact → extreme scenario → stress test.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crops. Balance water. Protect livelihoods.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0E4A2B5-EC46-3C96-EE87-7893BDBE1E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829" b="17953"/>
          <a:stretch>
            <a:fillRect/>
          </a:stretch>
        </p:blipFill>
        <p:spPr>
          <a:xfrm>
            <a:off x="4754880" y="1188721"/>
            <a:ext cx="3840480" cy="1691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quaShift Calm">
  <a:themeElements>
    <a:clrScheme name="AquaShift Calm">
      <a:dk1>
        <a:srgbClr val="2F3E36"/>
      </a:dk1>
      <a:lt1>
        <a:srgbClr val="FAF8F3"/>
      </a:lt1>
      <a:dk2>
        <a:srgbClr val="4A6572"/>
      </a:dk2>
      <a:lt2>
        <a:srgbClr val="EAEEE6"/>
      </a:lt2>
      <a:accent1>
        <a:srgbClr val="6B8F71"/>
      </a:accent1>
      <a:accent2>
        <a:srgbClr val="8FB3B8"/>
      </a:accent2>
      <a:accent3>
        <a:srgbClr val="C9A86A"/>
      </a:accent3>
      <a:accent4>
        <a:srgbClr val="B5654F"/>
      </a:accent4>
      <a:accent5>
        <a:srgbClr val="A9B8A0"/>
      </a:accent5>
      <a:accent6>
        <a:srgbClr val="7C8C99"/>
      </a:accent6>
      <a:hlink>
        <a:srgbClr val="4A6572"/>
      </a:hlink>
      <a:folHlink>
        <a:srgbClr val="7C8C99"/>
      </a:folHlink>
    </a:clrScheme>
    <a:fontScheme name="AquaShift Calm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480</Words>
  <Application>Microsoft Office PowerPoint</Application>
  <PresentationFormat>On-screen Show (16:9)</PresentationFormat>
  <Paragraphs>112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AquaShift Calm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AquaShift</dc:title>
  <dc:subject>PptxGenJS Presentation</dc:subject>
  <dc:creator>PptxGenJS</dc:creator>
  <cp:lastModifiedBy>JAIDEEP AULAKH</cp:lastModifiedBy>
  <cp:revision>3</cp:revision>
  <dcterms:created xsi:type="dcterms:W3CDTF">2026-10-02T13:57:31Z</dcterms:created>
  <dcterms:modified xsi:type="dcterms:W3CDTF">2026-10-03T13:44:53Z</dcterms:modified>
</cp:coreProperties>
</file>